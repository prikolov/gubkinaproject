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60" r:id="rId5"/>
    <p:sldId id="258" r:id="rId6"/>
    <p:sldId id="261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464" y="2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02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47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5297" y="3720373"/>
            <a:ext cx="2193240" cy="23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4"/>
              </a:lnSpc>
              <a:buNone/>
            </a:pPr>
            <a:endParaRPr lang="en-US" sz="114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E6322-883B-49E7-8F37-7434B1A6243D}"/>
              </a:ext>
            </a:extLst>
          </p:cNvPr>
          <p:cNvSpPr txBox="1"/>
          <p:nvPr/>
        </p:nvSpPr>
        <p:spPr>
          <a:xfrm>
            <a:off x="480060" y="327905"/>
            <a:ext cx="8663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Умный помощник для обработки аудио и 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B67EF7-7433-4862-8DA2-0162199153B0}"/>
              </a:ext>
            </a:extLst>
          </p:cNvPr>
          <p:cNvSpPr txBox="1"/>
          <p:nvPr/>
        </p:nvSpPr>
        <p:spPr>
          <a:xfrm>
            <a:off x="227271" y="2999050"/>
            <a:ext cx="58223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Telegram</a:t>
            </a:r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-бот на базе нейросетей для транскрипции голосовых сообщений и интеллектуальной </a:t>
            </a:r>
            <a:r>
              <a:rPr lang="ru-RU" sz="1600" dirty="0" err="1">
                <a:solidFill>
                  <a:schemeClr val="bg1"/>
                </a:solidFill>
                <a:latin typeface="Arial Black" panose="020B0A04020102020204" pitchFamily="34" charset="0"/>
              </a:rPr>
              <a:t>суммаризации</a:t>
            </a:r>
            <a:endParaRPr lang="ru-RU" sz="1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D2C3DD-68C6-4686-9E42-F3E349D07533}"/>
              </a:ext>
            </a:extLst>
          </p:cNvPr>
          <p:cNvSpPr txBox="1"/>
          <p:nvPr/>
        </p:nvSpPr>
        <p:spPr>
          <a:xfrm>
            <a:off x="4118046" y="4369533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Автор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Бухарев Дмитрий 547 Школа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2256" y="579029"/>
            <a:ext cx="5677289" cy="143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30"/>
              </a:lnSpc>
            </a:pPr>
            <a:r>
              <a:rPr lang="ru-RU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От проблемы к решению:</a:t>
            </a:r>
          </a:p>
          <a:p>
            <a:pPr marL="0" indent="0" algn="ctr">
              <a:lnSpc>
                <a:spcPts val="2430"/>
              </a:lnSpc>
              <a:buNone/>
            </a:pP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9534" y="1956925"/>
            <a:ext cx="3810166" cy="26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❌ </a:t>
            </a:r>
            <a:r>
              <a:rPr lang="ru-RU" sz="144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Проблема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609367" y="2473424"/>
            <a:ext cx="3810166" cy="1506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Современный мир переполнен информацией, большая часть которой представлена в аудио</a:t>
            </a:r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 Студентам и школьникам часто приходится тратить часы на прослушивание лекций, поиск нужных моментов в записях или анализ больших объемов текста. Это снижает продуктивность и отнимает драгоценное время</a:t>
            </a:r>
          </a:p>
          <a:p>
            <a:endParaRPr lang="ru-RU" sz="1200" dirty="0"/>
          </a:p>
        </p:txBody>
      </p:sp>
      <p:sp>
        <p:nvSpPr>
          <p:cNvPr id="6" name="Text 3"/>
          <p:cNvSpPr/>
          <p:nvPr/>
        </p:nvSpPr>
        <p:spPr>
          <a:xfrm>
            <a:off x="4724467" y="1956925"/>
            <a:ext cx="3810166" cy="26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✅</a:t>
            </a:r>
            <a:r>
              <a:rPr lang="ru-RU" sz="1440" b="1" dirty="0">
                <a:solidFill>
                  <a:srgbClr val="38BDF8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ru-RU" sz="144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Решение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4724467" y="2467371"/>
            <a:ext cx="3810166" cy="127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Telegram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-бот, который автоматизирует эти процессы. Он позволяет быстро преобразовать аудио в текст, извлекать ключевую информацию, резюмировать длинные тексты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2256" y="260375"/>
            <a:ext cx="5677289" cy="143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Наши конкурентные преимущества: Чем мы лучше?</a:t>
            </a:r>
          </a:p>
          <a:p>
            <a:pPr marL="0" indent="0" algn="ctr">
              <a:lnSpc>
                <a:spcPts val="2430"/>
              </a:lnSpc>
              <a:buNone/>
            </a:pPr>
            <a:endParaRPr lang="en-U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9" name="Таблица 9">
            <a:extLst>
              <a:ext uri="{FF2B5EF4-FFF2-40B4-BE49-F238E27FC236}">
                <a16:creationId xmlns:a16="http://schemas.microsoft.com/office/drawing/2014/main" id="{CC0DF955-5588-4B59-A209-105BD16E2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323439"/>
              </p:ext>
            </p:extLst>
          </p:nvPr>
        </p:nvGraphicFramePr>
        <p:xfrm>
          <a:off x="-1" y="1211695"/>
          <a:ext cx="9144000" cy="2709636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7583022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3334839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72352654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23789464"/>
                    </a:ext>
                  </a:extLst>
                </a:gridCol>
              </a:tblGrid>
              <a:tr h="4236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Функция / Продукт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Аналог 1: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TextifyAI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Аналог 2: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AudioBot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 Pro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Наш 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Telegram-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бот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292898"/>
                  </a:ext>
                </a:extLst>
              </a:tr>
              <a:tr h="423636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Распознавание речи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✓ (средняя точность)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✓ (высокая точность)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✓ (высокая точность, адаптация)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723243"/>
                  </a:ext>
                </a:extLst>
              </a:tr>
              <a:tr h="423636">
                <a:tc>
                  <a:txBody>
                    <a:bodyPr/>
                    <a:lstStyle/>
                    <a:p>
                      <a:r>
                        <a:rPr lang="ru-RU" sz="1200" b="1" dirty="0" err="1">
                          <a:solidFill>
                            <a:schemeClr val="tx1"/>
                          </a:solidFill>
                        </a:rPr>
                        <a:t>Суммаризация</a:t>
                      </a: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 текста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✗</a:t>
                      </a:r>
                    </a:p>
                    <a:p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✓ (гибкие настройки)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649063"/>
                  </a:ext>
                </a:extLst>
              </a:tr>
              <a:tr h="423636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Извлечение ключевых слов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✓</a:t>
                      </a:r>
                    </a:p>
                    <a:p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61724"/>
                  </a:ext>
                </a:extLst>
              </a:tr>
              <a:tr h="423636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Интеграция с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Telegram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✓ (частично)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✓ (полная, нативная)</a:t>
                      </a:r>
                    </a:p>
                    <a:p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992428"/>
                  </a:ext>
                </a:extLst>
              </a:tr>
              <a:tr h="423636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Платный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Платный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Бесплатно (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open-source)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10931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3BDD545-CC51-447C-AC79-4E3DD4829B71}"/>
              </a:ext>
            </a:extLst>
          </p:cNvPr>
          <p:cNvSpPr txBox="1"/>
          <p:nvPr/>
        </p:nvSpPr>
        <p:spPr>
          <a:xfrm>
            <a:off x="360217" y="4093994"/>
            <a:ext cx="6733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я провел анализ существующих решений на рынке, чтобы убедиться в уникальности и эффективности моего подхода.</a:t>
            </a:r>
          </a:p>
        </p:txBody>
      </p:sp>
    </p:spTree>
    <p:extLst>
      <p:ext uri="{BB962C8B-B14F-4D97-AF65-F5344CB8AC3E}">
        <p14:creationId xmlns:p14="http://schemas.microsoft.com/office/powerpoint/2010/main" val="335544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28966" y="624255"/>
            <a:ext cx="3886068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ru-RU" sz="270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Цель и задачи</a:t>
            </a:r>
            <a:endParaRPr lang="en-US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B3366-AD4F-4F46-83C0-EA1DA873B458}"/>
              </a:ext>
            </a:extLst>
          </p:cNvPr>
          <p:cNvSpPr txBox="1"/>
          <p:nvPr/>
        </p:nvSpPr>
        <p:spPr>
          <a:xfrm>
            <a:off x="1129145" y="1337365"/>
            <a:ext cx="3574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Цель</a:t>
            </a:r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934BED-0BEA-48FE-9F7D-B9D0DDDCD8AB}"/>
              </a:ext>
            </a:extLst>
          </p:cNvPr>
          <p:cNvSpPr txBox="1"/>
          <p:nvPr/>
        </p:nvSpPr>
        <p:spPr>
          <a:xfrm>
            <a:off x="4461163" y="136978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Ключевые задачи</a:t>
            </a:r>
            <a: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  <a:br>
              <a:rPr lang="en-US" sz="16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ru-RU" sz="1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995C7-71E5-4908-BE07-3E45EEAD8497}"/>
              </a:ext>
            </a:extLst>
          </p:cNvPr>
          <p:cNvSpPr txBox="1"/>
          <p:nvPr/>
        </p:nvSpPr>
        <p:spPr>
          <a:xfrm>
            <a:off x="4461163" y="1986974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1) </a:t>
            </a:r>
            <a:r>
              <a:rPr lang="ru-RU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Интеграция </a:t>
            </a:r>
            <a:r>
              <a:rPr lang="ru-RU" sz="1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Whisper</a:t>
            </a:r>
            <a:r>
              <a:rPr lang="ru-RU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 AI</a:t>
            </a:r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Внедрить нейросеть для точной транскрипции русскоязычной речи</a:t>
            </a:r>
            <a:b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2) </a:t>
            </a:r>
            <a:r>
              <a:rPr lang="ru-RU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Создать систему </a:t>
            </a:r>
            <a:r>
              <a:rPr lang="ru-RU" sz="1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суммаризации</a:t>
            </a:r>
            <a:r>
              <a:rPr lang="ru-RU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 с тремя стилями обработки текста</a:t>
            </a:r>
            <a:b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3) </a:t>
            </a:r>
            <a:r>
              <a:rPr lang="ru-RU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Реализовать удобный интерфейс на базе </a:t>
            </a:r>
            <a:r>
              <a:rPr lang="ru-RU" sz="1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aiogram</a:t>
            </a:r>
            <a:r>
              <a:rPr lang="ru-RU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 3.x</a:t>
            </a:r>
            <a:b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4) </a:t>
            </a:r>
            <a:r>
              <a:rPr lang="ru-RU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Провести испытания на реальных данных и оптимизировать производительность</a:t>
            </a:r>
            <a:endParaRPr lang="ru-RU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EB440E-88DA-44A9-8D70-B50BF7D13632}"/>
              </a:ext>
            </a:extLst>
          </p:cNvPr>
          <p:cNvSpPr txBox="1"/>
          <p:nvPr/>
        </p:nvSpPr>
        <p:spPr>
          <a:xfrm>
            <a:off x="0" y="1986974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  <a:latin typeface="Arial Black" panose="020B0A04020102020204" pitchFamily="34" charset="0"/>
              </a:rPr>
              <a:t>Создать доступный инструмент для автоматической обработки голосовых сообщений с использованием современных AI-технологий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86182" y="434744"/>
            <a:ext cx="3771470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Технологический Стек</a:t>
            </a:r>
            <a:endParaRPr lang="en-US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0767F6-017E-4A5E-813E-4DF684CE268D}"/>
              </a:ext>
            </a:extLst>
          </p:cNvPr>
          <p:cNvSpPr txBox="1"/>
          <p:nvPr/>
        </p:nvSpPr>
        <p:spPr>
          <a:xfrm>
            <a:off x="671944" y="2198500"/>
            <a:ext cx="81395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 Black" panose="020B0A04020102020204" pitchFamily="34" charset="0"/>
              </a:rPr>
              <a:t>Python 3.10 + </a:t>
            </a:r>
            <a:r>
              <a:rPr lang="ru-RU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aiogram</a:t>
            </a:r>
            <a:r>
              <a:rPr lang="ru-RU" sz="2000" dirty="0">
                <a:solidFill>
                  <a:schemeClr val="bg1"/>
                </a:solidFill>
                <a:latin typeface="Arial Black" panose="020B0A04020102020204" pitchFamily="34" charset="0"/>
              </a:rPr>
              <a:t> 3.x (асинхронный фреймворк для </a:t>
            </a:r>
            <a:r>
              <a:rPr lang="ru-RU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Telegram</a:t>
            </a:r>
            <a:r>
              <a:rPr lang="ru-RU" sz="2000" dirty="0">
                <a:solidFill>
                  <a:schemeClr val="bg1"/>
                </a:solidFill>
                <a:latin typeface="Arial Black" panose="020B0A04020102020204" pitchFamily="34" charset="0"/>
              </a:rPr>
              <a:t>) + </a:t>
            </a:r>
            <a:r>
              <a:rPr lang="ru-RU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OpenAI</a:t>
            </a:r>
            <a:r>
              <a:rPr lang="ru-RU" sz="20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Whisper</a:t>
            </a:r>
            <a:r>
              <a:rPr lang="ru-RU" sz="2000" dirty="0">
                <a:solidFill>
                  <a:schemeClr val="bg1"/>
                </a:solidFill>
                <a:latin typeface="Arial Black" panose="020B0A04020102020204" pitchFamily="34" charset="0"/>
              </a:rPr>
              <a:t> (нейросеть распознавания речи) + </a:t>
            </a:r>
            <a:r>
              <a:rPr lang="en-US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FFmpeg</a:t>
            </a:r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 + </a:t>
            </a:r>
            <a:r>
              <a:rPr lang="en-US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pydub</a:t>
            </a:r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Arial Black" panose="020B0A04020102020204" pitchFamily="34" charset="0"/>
              </a:rPr>
              <a:t>(обработка аудио) + </a:t>
            </a:r>
            <a:r>
              <a:rPr lang="ru-RU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кастомные</a:t>
            </a:r>
            <a:r>
              <a:rPr lang="ru-RU" sz="2000" dirty="0">
                <a:solidFill>
                  <a:schemeClr val="bg1"/>
                </a:solidFill>
                <a:latin typeface="Arial Black" panose="020B0A04020102020204" pitchFamily="34" charset="0"/>
              </a:rPr>
              <a:t> алгоритмы </a:t>
            </a:r>
            <a:r>
              <a:rPr lang="ru-RU" sz="2000" dirty="0" err="1">
                <a:solidFill>
                  <a:schemeClr val="bg1"/>
                </a:solidFill>
                <a:latin typeface="Arial Black" panose="020B0A04020102020204" pitchFamily="34" charset="0"/>
              </a:rPr>
              <a:t>суммаризации</a:t>
            </a:r>
            <a:endParaRPr lang="ru-RU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" y="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4430" y="1126296"/>
            <a:ext cx="4934976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5469" y="1580009"/>
            <a:ext cx="3749386" cy="99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1) Прием сообщения</a:t>
            </a: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Пользователь отправляет голосовое сообщение или аудиофайл (MP3/OGG). Диспетчер определяет тип входящих данных</a:t>
            </a:r>
          </a:p>
          <a:p>
            <a:pPr algn="l">
              <a:lnSpc>
                <a:spcPts val="1080"/>
              </a:lnSpc>
              <a:buSzPct val="100000"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DA2A3-22BB-4C16-86B9-C8F952C28921}"/>
              </a:ext>
            </a:extLst>
          </p:cNvPr>
          <p:cNvSpPr txBox="1"/>
          <p:nvPr/>
        </p:nvSpPr>
        <p:spPr>
          <a:xfrm>
            <a:off x="1364673" y="464128"/>
            <a:ext cx="47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 Black" panose="020B0A04020102020204" pitchFamily="34" charset="0"/>
              </a:rPr>
              <a:t>Как работает бот: пошаговый процесс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596AD-B41C-4847-911E-BA106AD93B1B}"/>
              </a:ext>
            </a:extLst>
          </p:cNvPr>
          <p:cNvSpPr txBox="1"/>
          <p:nvPr/>
        </p:nvSpPr>
        <p:spPr>
          <a:xfrm>
            <a:off x="4842812" y="1556087"/>
            <a:ext cx="32488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2) Скачивание и конвертация</a:t>
            </a: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Бот скачивает файл и конвертирует из .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ogg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 в .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wav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/.mp3 через 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FFmpeg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 для оптимальной обработки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04A40E-F177-4871-AF81-DA02F418B403}"/>
              </a:ext>
            </a:extLst>
          </p:cNvPr>
          <p:cNvSpPr txBox="1"/>
          <p:nvPr/>
        </p:nvSpPr>
        <p:spPr>
          <a:xfrm>
            <a:off x="356754" y="3228372"/>
            <a:ext cx="33181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3) Транскрипция</a:t>
            </a: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Модель 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Whisper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 AI анализирует аудио и преобразует речь в текстовый формат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01367B-2085-4A38-A99E-25DE3F1BA348}"/>
              </a:ext>
            </a:extLst>
          </p:cNvPr>
          <p:cNvSpPr txBox="1"/>
          <p:nvPr/>
        </p:nvSpPr>
        <p:spPr>
          <a:xfrm>
            <a:off x="4433454" y="322837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4) Обработка и 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суммаризация</a:t>
            </a:r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Текст очищается от артефактов и сжимается согласно выбранному стилю пользователя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63391" y="166357"/>
            <a:ext cx="4417054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2700" b="1" dirty="0" err="1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Архитектура</a:t>
            </a:r>
            <a: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en-US" sz="2700" b="1" dirty="0" err="1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Приложения</a:t>
            </a:r>
            <a:endParaRPr lang="en-US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2829CE-2F70-46B0-94CD-026BECAB06AA}"/>
              </a:ext>
            </a:extLst>
          </p:cNvPr>
          <p:cNvSpPr txBox="1"/>
          <p:nvPr/>
        </p:nvSpPr>
        <p:spPr>
          <a:xfrm>
            <a:off x="228601" y="793511"/>
            <a:ext cx="39346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Основные модули</a:t>
            </a:r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main_bot.py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Сердце системы</a:t>
            </a:r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,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 запускает бота, подключает логирование и все роутеры</a:t>
            </a:r>
          </a:p>
          <a:p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voice_audio_handler.py</a:t>
            </a: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Обрабатывает входящие голосовые сообщения и координирует весь процесс</a:t>
            </a:r>
          </a:p>
          <a:p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transcription.py</a:t>
            </a: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C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одержит модель 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Whisper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 для преобразования аудио в текст</a:t>
            </a:r>
          </a:p>
          <a:p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summarization_final.py</a:t>
            </a: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F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лгоритмы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 сжатия текста и 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промпты</a:t>
            </a: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 для разных стилей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8658EA-6BF4-4C20-9472-5823AB9FF3B1}"/>
              </a:ext>
            </a:extLst>
          </p:cNvPr>
          <p:cNvSpPr txBox="1"/>
          <p:nvPr/>
        </p:nvSpPr>
        <p:spPr>
          <a:xfrm>
            <a:off x="4333009" y="981887"/>
            <a:ext cx="46412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Вспомогательные компоненты</a:t>
            </a:r>
            <a:r>
              <a:rPr lang="en-US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config.py / .</a:t>
            </a:r>
            <a:r>
              <a:rPr lang="ru-RU" sz="1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env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Хранит токен бота и секретные настройки приложения</a:t>
            </a:r>
            <a:endParaRPr lang="en-US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settings_handlers.py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Управляет пользовательскими настройками (язык, стиль)</a:t>
            </a:r>
            <a:endParaRPr lang="en-US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user_states.py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FSM — машина состояний для отслеживания действий пользователя</a:t>
            </a:r>
            <a:endParaRPr lang="en-US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audio_utils.py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Утилиты для конвертации </a:t>
            </a:r>
            <a:r>
              <a:rPr lang="ru-RU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аудиоформатов</a:t>
            </a:r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49141" y="571665"/>
            <a:ext cx="3845554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Что было реализовано</a:t>
            </a:r>
            <a:endParaRPr lang="en-US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06909-B5DC-440D-8762-72D39566847E}"/>
              </a:ext>
            </a:extLst>
          </p:cNvPr>
          <p:cNvSpPr txBox="1"/>
          <p:nvPr/>
        </p:nvSpPr>
        <p:spPr>
          <a:xfrm>
            <a:off x="110755" y="1602254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✓ Транскрипция аудио</a:t>
            </a: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Поддержка MP3, OGG, WAV форматов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Точность распознавания русской речи &gt;90%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Работа с файлами до 20 МБ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✓ Гибкая </a:t>
            </a:r>
            <a:r>
              <a:rPr lang="ru-RU" sz="1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суммаризация</a:t>
            </a:r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Стиль "Кратко"  очень коротко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Стиль "Пункты"  структурированный список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Стиль "Подробно"  развернутый пересказ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A720E-66F2-4629-8542-3BE1B2AB1D1F}"/>
              </a:ext>
            </a:extLst>
          </p:cNvPr>
          <p:cNvSpPr txBox="1"/>
          <p:nvPr/>
        </p:nvSpPr>
        <p:spPr>
          <a:xfrm>
            <a:off x="4925373" y="1509921"/>
            <a:ext cx="46412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✓ Пользовательский интерфейс</a:t>
            </a: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Интуитивное меню настроек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Быстрые команды и подсказки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Сохранение предпочтений пользователя</a:t>
            </a:r>
          </a:p>
          <a:p>
            <a:endParaRPr lang="ru-RU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1200" b="1" dirty="0">
                <a:solidFill>
                  <a:schemeClr val="bg1"/>
                </a:solidFill>
                <a:latin typeface="Arial Black" panose="020B0A04020102020204" pitchFamily="34" charset="0"/>
              </a:rPr>
              <a:t>✓ Асинхронная обработка</a:t>
            </a:r>
          </a:p>
          <a:p>
            <a:endParaRPr lang="ru-RU" sz="1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Одновременная работа с 10+ пользователями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Отсутствие очередей и задержек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  <a:latin typeface="Arial Black" panose="020B0A04020102020204" pitchFamily="34" charset="0"/>
              </a:rPr>
              <a:t>Оптимизированное использование ресурсов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1783" y="466330"/>
            <a:ext cx="4220270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Планы </a:t>
            </a:r>
            <a:r>
              <a:rPr lang="en-US" sz="2700" b="1" dirty="0" err="1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на</a:t>
            </a:r>
            <a: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en-US" sz="2700" b="1" dirty="0" err="1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Будущее</a:t>
            </a:r>
            <a:endParaRPr lang="en-US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59389" y="2437622"/>
            <a:ext cx="4107657" cy="518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3000" b="1" dirty="0">
                <a:solidFill>
                  <a:schemeClr val="bg1"/>
                </a:solidFill>
                <a:latin typeface="Arial Black" panose="020B0A04020102020204" pitchFamily="34" charset="0"/>
                <a:ea typeface="Nunito" pitchFamily="34" charset="-122"/>
                <a:cs typeface="Nunito" pitchFamily="34" charset="-120"/>
              </a:rPr>
              <a:t>Спасибо за внимание!</a:t>
            </a:r>
            <a:endParaRPr lang="en-US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93745" y="2663675"/>
            <a:ext cx="2861013" cy="2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4"/>
              </a:lnSpc>
              <a:buNone/>
            </a:pP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3938807" y="3356567"/>
            <a:ext cx="1266220" cy="23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4"/>
              </a:lnSpc>
              <a:buNone/>
            </a:pP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577</Words>
  <Application>Microsoft Office PowerPoint</Application>
  <PresentationFormat>Экран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Arial</vt:lpstr>
      <vt:lpstr>Arial Black</vt:lpstr>
      <vt:lpstr>Calibri</vt:lpstr>
      <vt:lpstr>Nunito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ДИМА</cp:lastModifiedBy>
  <cp:revision>10</cp:revision>
  <dcterms:created xsi:type="dcterms:W3CDTF">2026-01-22T15:53:11Z</dcterms:created>
  <dcterms:modified xsi:type="dcterms:W3CDTF">2026-01-25T22:46:35Z</dcterms:modified>
</cp:coreProperties>
</file>